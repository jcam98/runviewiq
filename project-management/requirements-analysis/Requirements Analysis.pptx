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7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d880db6d0_4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d880db6d0_4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I dive into this presentation, with this being the first presentation of the series dedicated to this project, I want to do a brief introduction: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Justin Campbell, I’m a Computational Engineering alumni from the University of Texas at Austin, an interdisciplinary degree in computer science, statistics, and engineering.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four years of experience in data science and software development roles where I’ve utilized my background in computational science and engineering to build backend systems, improve data science workflows, and perform research studies.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highlights of my work accomplishments include</a:t>
            </a:r>
            <a:endParaRPr/>
          </a:p>
          <a:p>
            <a:pPr indent="-298450" lvl="0" marL="457200" rtl="0" algn="l">
              <a:spcBef>
                <a:spcPts val="0"/>
              </a:spcBef>
              <a:spcAft>
                <a:spcPts val="0"/>
              </a:spcAft>
              <a:buSzPts val="1100"/>
              <a:buAutoNum type="arabicParenR"/>
            </a:pPr>
            <a:r>
              <a:rPr lang="en">
                <a:solidFill>
                  <a:schemeClr val="dk1"/>
                </a:solidFill>
              </a:rPr>
              <a:t>refactoring an Excel-driven cost estimation workflow into a Python-based tool with MSSQL Server persistent storage streamlining end-to-end model development workflow</a:t>
            </a:r>
            <a:endParaRPr/>
          </a:p>
          <a:p>
            <a:pPr indent="-298450" lvl="0" marL="457200" rtl="0" algn="l">
              <a:spcBef>
                <a:spcPts val="0"/>
              </a:spcBef>
              <a:spcAft>
                <a:spcPts val="0"/>
              </a:spcAft>
              <a:buSzPts val="1100"/>
              <a:buAutoNum type="arabicParenR"/>
            </a:pPr>
            <a:r>
              <a:rPr lang="en"/>
              <a:t>Performing an inferential statistical analysis study of defense contract cost performance strengthening leadership’s ability to monitor program risk and prioritize oversight efforts,containerize and deploy models using Docker and Kubernetes conduct research studies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8272aea3c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8272aea3c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I dive into this presentation, with this being the first presentation of the series dedicated to this project, I want to do a brief introduction: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Justin Campbell, I’m a Computational Engineering alumni from the University of Texas at Austin, an interdisciplinary degree in computer science, statistics, and engineering.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four years of experience in data science and software development roles where I’ve utilized my background in computational science and engineering to build backend systems, improve data science workflows, and perform research studies.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highlights of my work accomplishments include</a:t>
            </a:r>
            <a:endParaRPr/>
          </a:p>
          <a:p>
            <a:pPr indent="-298450" lvl="0" marL="457200" rtl="0" algn="l">
              <a:spcBef>
                <a:spcPts val="0"/>
              </a:spcBef>
              <a:spcAft>
                <a:spcPts val="0"/>
              </a:spcAft>
              <a:buSzPts val="1100"/>
              <a:buAutoNum type="arabicParenR"/>
            </a:pPr>
            <a:r>
              <a:rPr lang="en">
                <a:solidFill>
                  <a:schemeClr val="dk1"/>
                </a:solidFill>
              </a:rPr>
              <a:t>refactoring an Excel-driven cost estimation workflow into a Python-based tool with MSSQL Server persistent storage streamlining end-to-end model development workflow</a:t>
            </a:r>
            <a:endParaRPr/>
          </a:p>
          <a:p>
            <a:pPr indent="-298450" lvl="0" marL="457200" rtl="0" algn="l">
              <a:spcBef>
                <a:spcPts val="0"/>
              </a:spcBef>
              <a:spcAft>
                <a:spcPts val="0"/>
              </a:spcAft>
              <a:buSzPts val="1100"/>
              <a:buAutoNum type="arabicParenR"/>
            </a:pPr>
            <a:r>
              <a:rPr lang="en"/>
              <a:t>Performing an inferential statistical analysis study of defense contract cost performance strengthening leadership’s ability to monitor program risk and prioritize oversight efforts,containerize and deploy models using Docker and Kubernetes conduct research studies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d880db6d0_4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d880db6d0_4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
              <a:t>Here is an overview of the technical skills that I have developed through my education and professional experience. </a:t>
            </a:r>
            <a:endParaRPr/>
          </a:p>
          <a:p>
            <a:pPr indent="-298450" lvl="0" marL="457200" rtl="0" algn="l">
              <a:spcBef>
                <a:spcPts val="0"/>
              </a:spcBef>
              <a:spcAft>
                <a:spcPts val="0"/>
              </a:spcAft>
              <a:buSzPts val="1100"/>
              <a:buAutoNum type="arabicParenR"/>
            </a:pPr>
            <a:r>
              <a:rPr lang="en"/>
              <a:t>Out of interest in time, I won’t run through each, but I’ve categorized them to emphasize that I can operate at the intersection of data science and software engineering with mention of scripting and compiled languages, cloud infrastructure and distributed computing software, database technologies, and software versioning and management tools.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b873bcb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b873bcb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Transitioning to the project, so, why perform requirements analysis in the first place?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firstly, this project is being developed as an </a:t>
            </a:r>
            <a:r>
              <a:rPr lang="en"/>
              <a:t>individual</a:t>
            </a:r>
            <a:r>
              <a:rPr lang="en"/>
              <a:t> effort with no formal requirements, milestones, or deliverables that need be satisfied.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initial documentation of requirements in the task plan is a lengthy list of both needs and wants for the tool representing an unbounded collection of initial ideas for the design and function of the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develop a running tool that satisfies the use case of being a </a:t>
            </a:r>
            <a:r>
              <a:rPr lang="en"/>
              <a:t>general-purpose tool to provide users with data-driven insights and forecasts into running performance, the purpose was threefold: </a:t>
            </a:r>
            <a:endParaRPr/>
          </a:p>
          <a:p>
            <a:pPr indent="-298450" lvl="0" marL="457200" rtl="0" algn="l">
              <a:spcBef>
                <a:spcPts val="0"/>
              </a:spcBef>
              <a:spcAft>
                <a:spcPts val="0"/>
              </a:spcAft>
              <a:buSzPts val="1100"/>
              <a:buAutoNum type="arabicParenR"/>
            </a:pPr>
            <a:r>
              <a:rPr lang="en"/>
              <a:t> the scope of the task needed to be constrained into a set of requirements that are more achievable, and timely</a:t>
            </a:r>
            <a:endParaRPr/>
          </a:p>
          <a:p>
            <a:pPr indent="-298450" lvl="0" marL="457200" rtl="0" algn="l">
              <a:spcBef>
                <a:spcPts val="0"/>
              </a:spcBef>
              <a:spcAft>
                <a:spcPts val="0"/>
              </a:spcAft>
              <a:buSzPts val="1100"/>
              <a:buAutoNum type="arabicParenR"/>
            </a:pPr>
            <a:r>
              <a:rPr lang="en"/>
              <a:t>The list of requirements needed to be further categorized into needs and wants to better prioritize the development effort moving forward</a:t>
            </a:r>
            <a:endParaRPr/>
          </a:p>
          <a:p>
            <a:pPr indent="-298450" lvl="0" marL="457200" rtl="0" algn="l">
              <a:spcBef>
                <a:spcPts val="0"/>
              </a:spcBef>
              <a:spcAft>
                <a:spcPts val="0"/>
              </a:spcAft>
              <a:buSzPts val="1100"/>
              <a:buAutoNum type="arabicParenR"/>
            </a:pPr>
            <a:r>
              <a:rPr lang="en"/>
              <a:t>Trade-offs in implementing requirements needed to be considered in detail to be aware of implications on future design, development, and testing decisions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b873bcb6c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b873bcb6c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was this requirements analysis performed?</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arenR"/>
            </a:pPr>
            <a:r>
              <a:rPr lang="en"/>
              <a:t>First, a review over the initial set of the requirements was performed and those deemed </a:t>
            </a:r>
            <a:r>
              <a:rPr lang="en"/>
              <a:t>necessary</a:t>
            </a:r>
            <a:r>
              <a:rPr lang="en"/>
              <a:t>  were down-selected as final and separated from those for further consideration. </a:t>
            </a:r>
            <a:endParaRPr/>
          </a:p>
          <a:p>
            <a:pPr indent="-298450" lvl="0" marL="457200" rtl="0" algn="l">
              <a:spcBef>
                <a:spcPts val="0"/>
              </a:spcBef>
              <a:spcAft>
                <a:spcPts val="0"/>
              </a:spcAft>
              <a:buSzPts val="1100"/>
              <a:buAutoNum type="arabicParenR"/>
            </a:pPr>
            <a:r>
              <a:rPr lang="en"/>
              <a:t>Then, amongst the requirements for further consideration, trade-offs regarding the likely impact of implementing on the system were investigated</a:t>
            </a:r>
            <a:endParaRPr/>
          </a:p>
          <a:p>
            <a:pPr indent="-298450" lvl="0" marL="457200" rtl="0" algn="l">
              <a:spcBef>
                <a:spcPts val="0"/>
              </a:spcBef>
              <a:spcAft>
                <a:spcPts val="0"/>
              </a:spcAft>
              <a:buSzPts val="1100"/>
              <a:buAutoNum type="arabicParenR"/>
            </a:pPr>
            <a:r>
              <a:rPr lang="en"/>
              <a:t>From here, trade-offs for each requirement were used to established trade spaces by requirement type (technical needs, technical wants, functional needs, and functional wants). These trade spaces were used to convey trade-offs impacting the requirements at the category level to examine trade-off coverage on the requirements (to what degree are the requirements impacted by these trade-offs)</a:t>
            </a:r>
            <a:endParaRPr/>
          </a:p>
          <a:p>
            <a:pPr indent="-298450" lvl="0" marL="457200" rtl="0" algn="l">
              <a:spcBef>
                <a:spcPts val="0"/>
              </a:spcBef>
              <a:spcAft>
                <a:spcPts val="0"/>
              </a:spcAft>
              <a:buSzPts val="1100"/>
              <a:buAutoNum type="arabicParenR"/>
            </a:pPr>
            <a:r>
              <a:rPr lang="en"/>
              <a:t>From here, insights from the trade spaces were used to down-selected requirements into final technical/functional needs and wants designations (where some needs were re-prioritized as wants and vice-versa)</a:t>
            </a:r>
            <a:endParaRPr/>
          </a:p>
          <a:p>
            <a:pPr indent="-298450" lvl="0" marL="457200" rtl="0" algn="l">
              <a:spcBef>
                <a:spcPts val="0"/>
              </a:spcBef>
              <a:spcAft>
                <a:spcPts val="0"/>
              </a:spcAft>
              <a:buSzPts val="1100"/>
              <a:buAutoNum type="arabicParenR"/>
            </a:pPr>
            <a:r>
              <a:rPr lang="en"/>
              <a:t>Then, requirements decision matrices were assembled to visualize the association between needs and wants and the likely technical difficulty in satisfying those requirements.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b873bcb6c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b873bcb6c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is used to visualize the top-down requirements analysis process.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project inception, 26 unique requirements were documented into technical and functional categories and further compartmentalized into needs and wants.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an initial review, 8 requirements were down-selected as final without considering trade-offs as concrete needs for the project.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left 6 technical needs, 4 technical wants, 4 functional needs, and 4 functional wants to be reviewed further.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accomplish this, trade-offs were then established for the implementation of individual requirements considering properties such as user experience, performance, and maintainability.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here, overarching trade spaces were developed for each requirement type (i.e. technical needs, technical wants, functional needs, and functional wants) to consider trends in how requirement implementation would be impacted by trade-offs across categories. This involved documenting requirement strengths and limitations, trade-off relationships, and compromise schematics.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Trade space analyses was performed by down-selecting requirements as needs, wants, or out of scope using these insights producing the breakdown of requirements shown here.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eight requirements that were down-selected at the beginning of requirements analyses were then added back into the list to produce this final breakdown of requirements.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Lastly, requirements decision matrices were developed to visualize the final categorization of requirements to better convey priorities moving forward.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b873bcb6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b873bcb6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track the steps of the analyses on a requirement level, let’s drill-down to an example requirement and </a:t>
            </a:r>
            <a:r>
              <a:rPr lang="en"/>
              <a:t>walk through each step of the analyses process.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Taking the first functional requirement “interactive visualization features in GUI” as an example: a long description is provided that addresses the scope of the requirement through mention of trade-offs along with the likely impacts of implementing or not implementing the requirement on the system.  [READ LONG DESCRIPTION]. This is an unstructured summary of the expected impacts.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next section, the core trade-offs from this “Long Description” section are listed.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in the trade-off summary section, we have more structured list of the trade-offs through the lens of strengths and weaknesses of implementing this requirement in the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[READ trade-off summary section]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Lastly, over on the right, we have compromises which convey the </a:t>
            </a:r>
            <a:r>
              <a:rPr lang="en"/>
              <a:t>relationships between the trade-offs</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increasing user experience quality through interactive components and dashboard use case coverage would indirectly require greater development time and decrease UI responsiveness through additional rendering cycles and backend-frontend logic].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b873bcb6c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b873bcb6c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AutoNum type="alphaLcParenR"/>
            </a:pPr>
            <a:r>
              <a:rPr lang="en">
                <a:solidFill>
                  <a:schemeClr val="dk1"/>
                </a:solidFill>
              </a:rPr>
              <a:t>Step #2 was to review trade-offs for requirements by category (i.e. technical wants, technical needs, functional wants, and functional needs) and this was performed by developing trade spaces spanning trade-offs in the requirement for each of those categories.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	Continuing with the requirement in the example, the predominant trade-space for this requirement was “Feature Capability” which covers trade-offs of user capability, development time, and UI responsiveness.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	Trade-Off relationships characterizing how </a:t>
            </a:r>
            <a:r>
              <a:rPr lang="en">
                <a:solidFill>
                  <a:schemeClr val="dk1"/>
                </a:solidFill>
              </a:rPr>
              <a:t>the</a:t>
            </a:r>
            <a:r>
              <a:rPr lang="en">
                <a:solidFill>
                  <a:schemeClr val="dk1"/>
                </a:solidFill>
              </a:rPr>
              <a:t> trade-offs pull on each other were documented but this time at the “trade space level” or generalized for each requirement type, not specific requirements.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	For this example, this can be interpreted as, for requirements with feature capability implications, increasing the user capability (quantity and quality of features in the dashboard tool) comes at the expense of increased development time, and a decrease in the responsiveness of the UI.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	A brief description on the scope and importance of the trade space schematic was provided: [READ]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	And finally, the requirements with implications on the trade space in the associated requirements category (here: functional wants with implications on Feature Capability) were documented.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rPr lang="en"/>
              <a:t>Now, for other requirements initially designated as functional wants, the trade-off analyses involved consideration of a second trade space, “Interface Space” in conjunction with this trade space compromises to down-select. An identical process was used for the other three requirement categories where as many as three trade spaces were assembled to weigh trade-offs for each category.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d880db6d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d880db6d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AutoNum type="alphaLcParenR"/>
            </a:pPr>
            <a:r>
              <a:rPr lang="en">
                <a:solidFill>
                  <a:schemeClr val="dk1"/>
                </a:solidFill>
              </a:rPr>
              <a:t>In s</a:t>
            </a:r>
            <a:r>
              <a:rPr lang="en">
                <a:solidFill>
                  <a:schemeClr val="dk1"/>
                </a:solidFill>
              </a:rPr>
              <a:t>tep #3, the requirements were down-selected using insights </a:t>
            </a:r>
            <a:r>
              <a:rPr lang="en">
                <a:solidFill>
                  <a:schemeClr val="dk1"/>
                </a:solidFill>
              </a:rPr>
              <a:t>from the trade space analysis.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	Continuing with the example of analysis on the requirement that the GUI support </a:t>
            </a:r>
            <a:r>
              <a:rPr lang="en">
                <a:solidFill>
                  <a:schemeClr val="dk1"/>
                </a:solidFill>
              </a:rPr>
              <a:t>interactive</a:t>
            </a:r>
            <a:r>
              <a:rPr lang="en">
                <a:solidFill>
                  <a:schemeClr val="dk1"/>
                </a:solidFill>
              </a:rPr>
              <a:t> plotting features,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AutoNum type="alphaLcParenR"/>
            </a:pPr>
            <a:r>
              <a:rPr lang="en">
                <a:solidFill>
                  <a:schemeClr val="dk1"/>
                </a:solidFill>
              </a:rPr>
              <a:t>It was before, an important note that this  has implications on the Feature Capability trade space. Enabling visualizations that support interactive zoom, pan, and other interaction features improves user experience increasing use cases and customization of dashboard allowing for drilled-down investigation of trends. However, this may require increased development time, and possible reduction in application UI responsiveness. </a:t>
            </a:r>
            <a:endParaRPr>
              <a:solidFill>
                <a:schemeClr val="dk1"/>
              </a:solidFill>
            </a:endParaRPr>
          </a:p>
          <a:p>
            <a:pPr indent="-298450" lvl="0" marL="457200" rtl="0" algn="l">
              <a:lnSpc>
                <a:spcPct val="115000"/>
              </a:lnSpc>
              <a:spcBef>
                <a:spcPts val="0"/>
              </a:spcBef>
              <a:spcAft>
                <a:spcPts val="0"/>
              </a:spcAft>
              <a:buClr>
                <a:schemeClr val="dk1"/>
              </a:buClr>
              <a:buSzPts val="1100"/>
              <a:buAutoNum type="alphaLcParenR"/>
            </a:pPr>
            <a:r>
              <a:rPr b="1" lang="en">
                <a:solidFill>
                  <a:schemeClr val="dk1"/>
                </a:solidFill>
              </a:rPr>
              <a:t>Ultimately, the </a:t>
            </a:r>
            <a:r>
              <a:rPr b="1" lang="en">
                <a:solidFill>
                  <a:schemeClr val="dk1"/>
                </a:solidFill>
              </a:rPr>
              <a:t>Decision -</a:t>
            </a:r>
            <a:r>
              <a:rPr lang="en">
                <a:solidFill>
                  <a:schemeClr val="dk1"/>
                </a:solidFill>
              </a:rPr>
              <a:t> Since enabling interactivity in the visualizations adds little benefit to the utility of the dashboard, would decrease UI responsiveness, require additional development time, and can be substituted for native image viewing tools, this requirement is being down-selected as a </a:t>
            </a:r>
            <a:r>
              <a:rPr b="1" lang="en">
                <a:solidFill>
                  <a:schemeClr val="dk1"/>
                </a:solidFill>
              </a:rPr>
              <a:t>want.</a:t>
            </a:r>
            <a:r>
              <a:rPr lang="en">
                <a:solidFill>
                  <a:schemeClr val="dk1"/>
                </a:solidFill>
              </a:rPr>
              <a:t> </a:t>
            </a:r>
            <a:endParaRPr>
              <a:solidFill>
                <a:schemeClr val="dk1"/>
              </a:solidFill>
            </a:endParaRPr>
          </a:p>
          <a:p>
            <a:pPr indent="0" lvl="0" marL="0" rtl="0" algn="l">
              <a:spcBef>
                <a:spcPts val="0"/>
              </a:spcBef>
              <a:spcAft>
                <a:spcPts val="0"/>
              </a:spcAft>
              <a:buNone/>
            </a:pPr>
            <a:r>
              <a:rPr lang="en"/>
              <a:t>Now, for other requirements initially designated as functional wants, the trade-off analyses involved consideration of a second trade space, “Interface Space” in conjunction with this trade space compromises to down-select. An identical process was used for the other three requirement categories.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b873bcb6c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b873bcb6c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slide, we have one of two requirements decision matrices, the technical </a:t>
            </a:r>
            <a:r>
              <a:rPr lang="en"/>
              <a:t>decision</a:t>
            </a:r>
            <a:r>
              <a:rPr lang="en"/>
              <a:t> matrix developed to visualize the association between customer satisfaction level (needs vs wants) and technological differentiation (easy vs hard to accomplish technically). Therefore, this visualization takes the one-dimensional listing of requirements by requirement type and maps it into a two-dimensional space where requirements can be more </a:t>
            </a:r>
            <a:r>
              <a:rPr lang="en"/>
              <a:t>succinctly</a:t>
            </a:r>
            <a:r>
              <a:rPr lang="en"/>
              <a:t> viewed and prioritized.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[READ THROUGH EACH SQUARE]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b873bcb6c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db873bcb6c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functional requirements decision matrix was developed in the same way.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[READ THROUGH EACH SQUARE]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b873bcb6c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db873bcb6c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performing requirements analysis, the next step is to begin ideating system architectural designs and application workflows which will involve: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arenR"/>
            </a:pPr>
            <a:r>
              <a:rPr lang="en"/>
              <a:t>Developing platform agnostic black box diagrams to </a:t>
            </a:r>
            <a:r>
              <a:rPr lang="en"/>
              <a:t>characterize</a:t>
            </a:r>
            <a:r>
              <a:rPr lang="en"/>
              <a:t> inputs, outputs, and internal processes in the application and its </a:t>
            </a:r>
            <a:r>
              <a:rPr lang="en"/>
              <a:t>subsystems</a:t>
            </a:r>
            <a:endParaRPr/>
          </a:p>
          <a:p>
            <a:pPr indent="-298450" lvl="0" marL="457200" rtl="0" algn="l">
              <a:spcBef>
                <a:spcPts val="0"/>
              </a:spcBef>
              <a:spcAft>
                <a:spcPts val="0"/>
              </a:spcAft>
              <a:buSzPts val="1100"/>
              <a:buAutoNum type="arabicParenR"/>
            </a:pPr>
            <a:r>
              <a:rPr lang="en"/>
              <a:t>Flowcharts that convey the workflows of common use cases when operating the system following the user from initial launch through dashboard display and data export</a:t>
            </a:r>
            <a:endParaRPr/>
          </a:p>
          <a:p>
            <a:pPr indent="-298450" lvl="0" marL="457200" rtl="0" algn="l">
              <a:spcBef>
                <a:spcPts val="0"/>
              </a:spcBef>
              <a:spcAft>
                <a:spcPts val="0"/>
              </a:spcAft>
              <a:buSzPts val="1100"/>
              <a:buAutoNum type="arabicParenR"/>
            </a:pPr>
            <a:r>
              <a:rPr lang="en"/>
              <a:t>System architectural diagrams that illustrate the technical components within and between </a:t>
            </a:r>
            <a:r>
              <a:rPr lang="en"/>
              <a:t>subsystems and their integration</a:t>
            </a:r>
            <a:endParaRPr/>
          </a:p>
          <a:p>
            <a:pPr indent="-298450" lvl="0" marL="457200" rtl="0" algn="l">
              <a:spcBef>
                <a:spcPts val="0"/>
              </a:spcBef>
              <a:spcAft>
                <a:spcPts val="0"/>
              </a:spcAft>
              <a:buSzPts val="1100"/>
              <a:buAutoNum type="arabicParenR"/>
            </a:pPr>
            <a:r>
              <a:rPr lang="en"/>
              <a:t>And UI designs that convey the visual layout on a state-by-state basis for common use cases.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rPr lang="en"/>
              <a:t>Then, a Feasibility Analysis Studies will be performed to identify and down-select competing alternative technical design ideas including software libraries/frameworks, system architectural designs, etc. from which to develop detailed system designs.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18.png"/><Relationship Id="rId13" Type="http://schemas.openxmlformats.org/officeDocument/2006/relationships/image" Target="../media/image10.png"/><Relationship Id="rId12" Type="http://schemas.openxmlformats.org/officeDocument/2006/relationships/image" Target="../media/image2.jp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1.png"/><Relationship Id="rId9" Type="http://schemas.openxmlformats.org/officeDocument/2006/relationships/image" Target="../media/image5.png"/><Relationship Id="rId5" Type="http://schemas.openxmlformats.org/officeDocument/2006/relationships/image" Target="../media/image22.png"/><Relationship Id="rId6" Type="http://schemas.openxmlformats.org/officeDocument/2006/relationships/image" Target="../media/image12.png"/><Relationship Id="rId7" Type="http://schemas.openxmlformats.org/officeDocument/2006/relationships/image" Target="../media/image11.png"/><Relationship Id="rId8"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title"/>
          </p:nvPr>
        </p:nvSpPr>
        <p:spPr>
          <a:xfrm>
            <a:off x="1986300" y="1934600"/>
            <a:ext cx="5171400" cy="6465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Requirements Analysis for Running Dashboard Tool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311700" y="30775"/>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Personal Background and Experience</a:t>
            </a:r>
            <a:endParaRPr/>
          </a:p>
        </p:txBody>
      </p:sp>
      <p:sp>
        <p:nvSpPr>
          <p:cNvPr id="91" name="Google Shape;91;p14"/>
          <p:cNvSpPr txBox="1"/>
          <p:nvPr>
            <p:ph idx="1" type="body"/>
          </p:nvPr>
        </p:nvSpPr>
        <p:spPr>
          <a:xfrm>
            <a:off x="0" y="756125"/>
            <a:ext cx="8795400" cy="3854100"/>
          </a:xfrm>
          <a:prstGeom prst="rect">
            <a:avLst/>
          </a:prstGeom>
        </p:spPr>
        <p:txBody>
          <a:bodyPr anchorCtr="0" anchor="t" bIns="91425" lIns="91425" spcFirstLastPara="1" rIns="91425" wrap="square" tIns="91425">
            <a:normAutofit fontScale="70000" lnSpcReduction="20000"/>
          </a:bodyPr>
          <a:lstStyle/>
          <a:p>
            <a:pPr indent="-319575" lvl="0" marL="457200" rtl="0" algn="l">
              <a:spcBef>
                <a:spcPts val="0"/>
              </a:spcBef>
              <a:spcAft>
                <a:spcPts val="0"/>
              </a:spcAft>
              <a:buSzPct val="100000"/>
              <a:buChar char="●"/>
            </a:pPr>
            <a:r>
              <a:rPr b="1" lang="en" sz="2047"/>
              <a:t>Work Experience</a:t>
            </a:r>
            <a:endParaRPr b="1" sz="2047"/>
          </a:p>
          <a:p>
            <a:pPr indent="0" lvl="0" marL="457200" rtl="0" algn="l">
              <a:lnSpc>
                <a:spcPct val="50000"/>
              </a:lnSpc>
              <a:spcBef>
                <a:spcPts val="1200"/>
              </a:spcBef>
              <a:spcAft>
                <a:spcPts val="0"/>
              </a:spcAft>
              <a:buNone/>
            </a:pPr>
            <a:r>
              <a:t/>
            </a:r>
            <a:endParaRPr sz="2047"/>
          </a:p>
          <a:p>
            <a:pPr indent="-320231" lvl="1" marL="914400" rtl="0" algn="l">
              <a:spcBef>
                <a:spcPts val="50"/>
              </a:spcBef>
              <a:spcAft>
                <a:spcPts val="0"/>
              </a:spcAft>
              <a:buSzPct val="100000"/>
              <a:buChar char="○"/>
            </a:pPr>
            <a:r>
              <a:rPr lang="en" sz="2061"/>
              <a:t>Data Scientist, Software Developer, and AWS Certified Solutions Architect with 4 years of experience developing analytical and software solutions in industry and academia.</a:t>
            </a:r>
            <a:endParaRPr sz="2061"/>
          </a:p>
          <a:p>
            <a:pPr indent="0" lvl="0" marL="914400" rtl="0" algn="l">
              <a:lnSpc>
                <a:spcPct val="50000"/>
              </a:lnSpc>
              <a:spcBef>
                <a:spcPts val="1200"/>
              </a:spcBef>
              <a:spcAft>
                <a:spcPts val="0"/>
              </a:spcAft>
              <a:buNone/>
            </a:pPr>
            <a:r>
              <a:t/>
            </a:r>
            <a:endParaRPr sz="2047"/>
          </a:p>
          <a:p>
            <a:pPr indent="-319575" lvl="0" marL="457200" rtl="0" algn="l">
              <a:spcBef>
                <a:spcPts val="50"/>
              </a:spcBef>
              <a:spcAft>
                <a:spcPts val="0"/>
              </a:spcAft>
              <a:buSzPct val="100000"/>
              <a:buChar char="●"/>
            </a:pPr>
            <a:r>
              <a:rPr b="1" lang="en" sz="2047"/>
              <a:t>Background</a:t>
            </a:r>
            <a:endParaRPr b="1" sz="2047"/>
          </a:p>
          <a:p>
            <a:pPr indent="0" lvl="0" marL="457200" rtl="0" algn="l">
              <a:lnSpc>
                <a:spcPct val="50000"/>
              </a:lnSpc>
              <a:spcBef>
                <a:spcPts val="1200"/>
              </a:spcBef>
              <a:spcAft>
                <a:spcPts val="0"/>
              </a:spcAft>
              <a:buNone/>
            </a:pPr>
            <a:r>
              <a:t/>
            </a:r>
            <a:endParaRPr sz="2190"/>
          </a:p>
          <a:p>
            <a:pPr indent="-320231" lvl="1" marL="914400" rtl="0" algn="l">
              <a:spcBef>
                <a:spcPts val="50"/>
              </a:spcBef>
              <a:spcAft>
                <a:spcPts val="0"/>
              </a:spcAft>
              <a:buSzPct val="100000"/>
              <a:buChar char="○"/>
            </a:pPr>
            <a:r>
              <a:rPr lang="en" sz="2061"/>
              <a:t>Computational Engineering alumni of University of Texas at Austin</a:t>
            </a:r>
            <a:endParaRPr sz="2061"/>
          </a:p>
          <a:p>
            <a:pPr indent="0" lvl="0" marL="914400" rtl="0" algn="l">
              <a:lnSpc>
                <a:spcPct val="50000"/>
              </a:lnSpc>
              <a:spcBef>
                <a:spcPts val="1200"/>
              </a:spcBef>
              <a:spcAft>
                <a:spcPts val="0"/>
              </a:spcAft>
              <a:buNone/>
            </a:pPr>
            <a:r>
              <a:t/>
            </a:r>
            <a:endParaRPr sz="2047"/>
          </a:p>
          <a:p>
            <a:pPr indent="-319575" lvl="0" marL="457200" rtl="0" algn="l">
              <a:spcBef>
                <a:spcPts val="50"/>
              </a:spcBef>
              <a:spcAft>
                <a:spcPts val="0"/>
              </a:spcAft>
              <a:buSzPct val="100000"/>
              <a:buChar char="●"/>
            </a:pPr>
            <a:r>
              <a:rPr b="1" lang="en" sz="2047"/>
              <a:t>Highlights</a:t>
            </a:r>
            <a:endParaRPr b="1" sz="2047"/>
          </a:p>
          <a:p>
            <a:pPr indent="0" lvl="0" marL="457200" rtl="0" algn="l">
              <a:lnSpc>
                <a:spcPct val="50000"/>
              </a:lnSpc>
              <a:spcBef>
                <a:spcPts val="1200"/>
              </a:spcBef>
              <a:spcAft>
                <a:spcPts val="0"/>
              </a:spcAft>
              <a:buNone/>
            </a:pPr>
            <a:r>
              <a:t/>
            </a:r>
            <a:endParaRPr sz="2047"/>
          </a:p>
          <a:p>
            <a:pPr indent="-320231" lvl="1" marL="914400" rtl="0" algn="l">
              <a:spcBef>
                <a:spcPts val="50"/>
              </a:spcBef>
              <a:spcAft>
                <a:spcPts val="0"/>
              </a:spcAft>
              <a:buSzPct val="100000"/>
              <a:buChar char="○"/>
            </a:pPr>
            <a:r>
              <a:rPr lang="en" sz="2061"/>
              <a:t>Cost Estimating Relationship Tool that streamlines the end-to-end model development workflow improving model turnaround time, maintainability, and auditability</a:t>
            </a:r>
            <a:endParaRPr sz="2061"/>
          </a:p>
          <a:p>
            <a:pPr indent="-320231" lvl="1" marL="914400" rtl="0" algn="l">
              <a:spcBef>
                <a:spcPts val="0"/>
              </a:spcBef>
              <a:spcAft>
                <a:spcPts val="0"/>
              </a:spcAft>
              <a:buSzPct val="100000"/>
              <a:buChar char="○"/>
            </a:pPr>
            <a:r>
              <a:rPr lang="en" sz="2061"/>
              <a:t>Inferential Statistical Analysis Study driving insights into cost overruns in defense contracts for program risk management </a:t>
            </a:r>
            <a:endParaRPr sz="2061"/>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idx="1" type="body"/>
          </p:nvPr>
        </p:nvSpPr>
        <p:spPr>
          <a:xfrm>
            <a:off x="0" y="115155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Technical Toolkit</a:t>
            </a:r>
            <a:endParaRPr/>
          </a:p>
          <a:p>
            <a:pPr indent="-317500" lvl="1" marL="914400" rtl="0" algn="l">
              <a:spcBef>
                <a:spcPts val="1200"/>
              </a:spcBef>
              <a:spcAft>
                <a:spcPts val="0"/>
              </a:spcAft>
              <a:buSzPts val="1400"/>
              <a:buChar char="○"/>
            </a:pPr>
            <a:r>
              <a:rPr lang="en"/>
              <a:t>Programming: Python, SQL, R, C++, Bash</a:t>
            </a:r>
            <a:endParaRPr/>
          </a:p>
          <a:p>
            <a:pPr indent="-317500" lvl="1" marL="914400" rtl="0" algn="l">
              <a:spcBef>
                <a:spcPts val="0"/>
              </a:spcBef>
              <a:spcAft>
                <a:spcPts val="0"/>
              </a:spcAft>
              <a:buSzPts val="1400"/>
              <a:buChar char="○"/>
            </a:pPr>
            <a:r>
              <a:rPr lang="en"/>
              <a:t>Data &amp; Analytics: Python (Pandas, NumPy, SciPy, Scikit-Learn), R, Jupyter Notebook</a:t>
            </a:r>
            <a:endParaRPr/>
          </a:p>
          <a:p>
            <a:pPr indent="-317500" lvl="1" marL="914400" rtl="0" algn="l">
              <a:spcBef>
                <a:spcPts val="0"/>
              </a:spcBef>
              <a:spcAft>
                <a:spcPts val="0"/>
              </a:spcAft>
              <a:buSzPts val="1400"/>
              <a:buChar char="○"/>
            </a:pPr>
            <a:r>
              <a:rPr lang="en"/>
              <a:t>Cloud &amp; DevOps: AWS, Docker, Kubernetes, Git/GitHub, Cursor, Claude, GitHub Copilot</a:t>
            </a:r>
            <a:endParaRPr/>
          </a:p>
          <a:p>
            <a:pPr indent="-317500" lvl="1" marL="914400" rtl="0" algn="l">
              <a:spcBef>
                <a:spcPts val="0"/>
              </a:spcBef>
              <a:spcAft>
                <a:spcPts val="0"/>
              </a:spcAft>
              <a:buSzPts val="1400"/>
              <a:buChar char="○"/>
            </a:pPr>
            <a:r>
              <a:rPr lang="en"/>
              <a:t>Databases &amp; Project Management: Redis NoSQL, MySQL, MSSQL Server, Agile, Jira</a:t>
            </a:r>
            <a:endParaRPr/>
          </a:p>
          <a:p>
            <a:pPr indent="0" lvl="0" marL="457200" rtl="0" algn="l">
              <a:spcBef>
                <a:spcPts val="1200"/>
              </a:spcBef>
              <a:spcAft>
                <a:spcPts val="1200"/>
              </a:spcAft>
              <a:buNone/>
            </a:pPr>
            <a:r>
              <a:t/>
            </a:r>
            <a:endParaRPr/>
          </a:p>
        </p:txBody>
      </p:sp>
      <p:pic>
        <p:nvPicPr>
          <p:cNvPr descr="the database is an icon vector. Isolated contour symbol illustration (Provided by Getty Images)" id="97" name="Google Shape;97;p15"/>
          <p:cNvPicPr preferRelativeResize="0"/>
          <p:nvPr/>
        </p:nvPicPr>
        <p:blipFill>
          <a:blip r:embed="rId3">
            <a:alphaModFix/>
          </a:blip>
          <a:stretch>
            <a:fillRect/>
          </a:stretch>
        </p:blipFill>
        <p:spPr>
          <a:xfrm>
            <a:off x="1560326" y="2764151"/>
            <a:ext cx="777242" cy="777242"/>
          </a:xfrm>
          <a:prstGeom prst="rect">
            <a:avLst/>
          </a:prstGeom>
          <a:noFill/>
          <a:ln>
            <a:noFill/>
          </a:ln>
        </p:spPr>
      </p:pic>
      <p:pic>
        <p:nvPicPr>
          <p:cNvPr descr="File:Python.svg - Wikimedia Commons" id="98" name="Google Shape;98;p15"/>
          <p:cNvPicPr preferRelativeResize="0"/>
          <p:nvPr/>
        </p:nvPicPr>
        <p:blipFill>
          <a:blip r:embed="rId4">
            <a:alphaModFix/>
          </a:blip>
          <a:stretch>
            <a:fillRect/>
          </a:stretch>
        </p:blipFill>
        <p:spPr>
          <a:xfrm>
            <a:off x="675025" y="2765575"/>
            <a:ext cx="774400" cy="774400"/>
          </a:xfrm>
          <a:prstGeom prst="rect">
            <a:avLst/>
          </a:prstGeom>
          <a:noFill/>
          <a:ln>
            <a:noFill/>
          </a:ln>
        </p:spPr>
      </p:pic>
      <p:pic>
        <p:nvPicPr>
          <p:cNvPr descr="File:Amazon Web Services 2025.svg - Wikimedia Commons" id="99" name="Google Shape;99;p15"/>
          <p:cNvPicPr preferRelativeResize="0"/>
          <p:nvPr/>
        </p:nvPicPr>
        <p:blipFill>
          <a:blip r:embed="rId5">
            <a:alphaModFix/>
          </a:blip>
          <a:stretch>
            <a:fillRect/>
          </a:stretch>
        </p:blipFill>
        <p:spPr>
          <a:xfrm>
            <a:off x="5673125" y="2833700"/>
            <a:ext cx="956451" cy="638149"/>
          </a:xfrm>
          <a:prstGeom prst="rect">
            <a:avLst/>
          </a:prstGeom>
          <a:noFill/>
          <a:ln>
            <a:noFill/>
          </a:ln>
        </p:spPr>
      </p:pic>
      <p:pic>
        <p:nvPicPr>
          <p:cNvPr id="100" name="Google Shape;100;p15" title="Snip20260505_33.png"/>
          <p:cNvPicPr preferRelativeResize="0"/>
          <p:nvPr/>
        </p:nvPicPr>
        <p:blipFill>
          <a:blip r:embed="rId6">
            <a:alphaModFix/>
          </a:blip>
          <a:stretch>
            <a:fillRect/>
          </a:stretch>
        </p:blipFill>
        <p:spPr>
          <a:xfrm>
            <a:off x="1356625" y="3577759"/>
            <a:ext cx="777240" cy="777240"/>
          </a:xfrm>
          <a:prstGeom prst="rect">
            <a:avLst/>
          </a:prstGeom>
          <a:noFill/>
          <a:ln>
            <a:noFill/>
          </a:ln>
        </p:spPr>
      </p:pic>
      <p:pic>
        <p:nvPicPr>
          <p:cNvPr descr="File:Phan-mem-r-studio.png - Wikimedia Commons" id="101" name="Google Shape;101;p15"/>
          <p:cNvPicPr preferRelativeResize="0"/>
          <p:nvPr/>
        </p:nvPicPr>
        <p:blipFill rotWithShape="1">
          <a:blip r:embed="rId7">
            <a:alphaModFix/>
          </a:blip>
          <a:srcRect b="34371" l="25097" r="29911" t="8401"/>
          <a:stretch/>
        </p:blipFill>
        <p:spPr>
          <a:xfrm>
            <a:off x="2448474" y="2764150"/>
            <a:ext cx="777240" cy="777240"/>
          </a:xfrm>
          <a:prstGeom prst="rect">
            <a:avLst/>
          </a:prstGeom>
          <a:noFill/>
          <a:ln>
            <a:noFill/>
          </a:ln>
        </p:spPr>
      </p:pic>
      <p:pic>
        <p:nvPicPr>
          <p:cNvPr descr="File:C++ logo.png - Wikimedia Commons" id="102" name="Google Shape;102;p15"/>
          <p:cNvPicPr preferRelativeResize="0"/>
          <p:nvPr/>
        </p:nvPicPr>
        <p:blipFill>
          <a:blip r:embed="rId8">
            <a:alphaModFix/>
          </a:blip>
          <a:stretch>
            <a:fillRect/>
          </a:stretch>
        </p:blipFill>
        <p:spPr>
          <a:xfrm>
            <a:off x="3548697" y="2764151"/>
            <a:ext cx="777240" cy="777240"/>
          </a:xfrm>
          <a:prstGeom prst="rect">
            <a:avLst/>
          </a:prstGeom>
          <a:noFill/>
          <a:ln>
            <a:noFill/>
          </a:ln>
        </p:spPr>
      </p:pic>
      <p:pic>
        <p:nvPicPr>
          <p:cNvPr descr="File:Jira Logo.svg - Wikimedia Commons" id="103" name="Google Shape;103;p15"/>
          <p:cNvPicPr preferRelativeResize="0"/>
          <p:nvPr/>
        </p:nvPicPr>
        <p:blipFill>
          <a:blip r:embed="rId9">
            <a:alphaModFix/>
          </a:blip>
          <a:stretch>
            <a:fillRect/>
          </a:stretch>
        </p:blipFill>
        <p:spPr>
          <a:xfrm>
            <a:off x="5172899" y="3750725"/>
            <a:ext cx="1024224" cy="431297"/>
          </a:xfrm>
          <a:prstGeom prst="rect">
            <a:avLst/>
          </a:prstGeom>
          <a:noFill/>
          <a:ln>
            <a:noFill/>
          </a:ln>
        </p:spPr>
      </p:pic>
      <p:pic>
        <p:nvPicPr>
          <p:cNvPr id="104" name="Google Shape;104;p15" title="kubernetes.png"/>
          <p:cNvPicPr preferRelativeResize="0"/>
          <p:nvPr/>
        </p:nvPicPr>
        <p:blipFill>
          <a:blip r:embed="rId10">
            <a:alphaModFix/>
          </a:blip>
          <a:stretch>
            <a:fillRect/>
          </a:stretch>
        </p:blipFill>
        <p:spPr>
          <a:xfrm>
            <a:off x="2291182" y="3577750"/>
            <a:ext cx="777240" cy="777240"/>
          </a:xfrm>
          <a:prstGeom prst="rect">
            <a:avLst/>
          </a:prstGeom>
          <a:noFill/>
          <a:ln>
            <a:noFill/>
          </a:ln>
        </p:spPr>
      </p:pic>
      <p:pic>
        <p:nvPicPr>
          <p:cNvPr id="105" name="Google Shape;105;p15" title="Claude.png"/>
          <p:cNvPicPr preferRelativeResize="0"/>
          <p:nvPr/>
        </p:nvPicPr>
        <p:blipFill>
          <a:blip r:embed="rId11">
            <a:alphaModFix/>
          </a:blip>
          <a:stretch>
            <a:fillRect/>
          </a:stretch>
        </p:blipFill>
        <p:spPr>
          <a:xfrm>
            <a:off x="4229912" y="3624275"/>
            <a:ext cx="684175" cy="684200"/>
          </a:xfrm>
          <a:prstGeom prst="rect">
            <a:avLst/>
          </a:prstGeom>
          <a:noFill/>
          <a:ln>
            <a:noFill/>
          </a:ln>
        </p:spPr>
      </p:pic>
      <p:pic>
        <p:nvPicPr>
          <p:cNvPr id="106" name="Google Shape;106;p15" title="Cursor.jpeg"/>
          <p:cNvPicPr preferRelativeResize="0"/>
          <p:nvPr/>
        </p:nvPicPr>
        <p:blipFill>
          <a:blip r:embed="rId12">
            <a:alphaModFix/>
          </a:blip>
          <a:stretch>
            <a:fillRect/>
          </a:stretch>
        </p:blipFill>
        <p:spPr>
          <a:xfrm>
            <a:off x="3225730" y="3577755"/>
            <a:ext cx="777240" cy="777240"/>
          </a:xfrm>
          <a:prstGeom prst="rect">
            <a:avLst/>
          </a:prstGeom>
          <a:noFill/>
          <a:ln>
            <a:noFill/>
          </a:ln>
        </p:spPr>
      </p:pic>
      <p:pic>
        <p:nvPicPr>
          <p:cNvPr id="107" name="Google Shape;107;p15" title="jupyter-notebook.png"/>
          <p:cNvPicPr preferRelativeResize="0"/>
          <p:nvPr/>
        </p:nvPicPr>
        <p:blipFill>
          <a:blip r:embed="rId13">
            <a:alphaModFix/>
          </a:blip>
          <a:stretch>
            <a:fillRect/>
          </a:stretch>
        </p:blipFill>
        <p:spPr>
          <a:xfrm>
            <a:off x="4648900" y="2764150"/>
            <a:ext cx="777240" cy="777240"/>
          </a:xfrm>
          <a:prstGeom prst="rect">
            <a:avLst/>
          </a:prstGeom>
          <a:noFill/>
          <a:ln>
            <a:noFill/>
          </a:ln>
        </p:spPr>
      </p:pic>
      <p:sp>
        <p:nvSpPr>
          <p:cNvPr id="108" name="Google Shape;108;p15"/>
          <p:cNvSpPr txBox="1"/>
          <p:nvPr>
            <p:ph type="title"/>
          </p:nvPr>
        </p:nvSpPr>
        <p:spPr>
          <a:xfrm>
            <a:off x="311700" y="30775"/>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Personal Background and Experience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33885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00"/>
              <a:t>Why Perform Requirements Analysis?</a:t>
            </a:r>
            <a:endParaRPr sz="2400"/>
          </a:p>
        </p:txBody>
      </p:sp>
      <p:sp>
        <p:nvSpPr>
          <p:cNvPr id="114" name="Google Shape;114;p16"/>
          <p:cNvSpPr txBox="1"/>
          <p:nvPr>
            <p:ph idx="1" type="body"/>
          </p:nvPr>
        </p:nvSpPr>
        <p:spPr>
          <a:xfrm>
            <a:off x="-19500" y="572700"/>
            <a:ext cx="4572000" cy="40965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Background: </a:t>
            </a:r>
            <a:r>
              <a:rPr lang="en" sz="1200"/>
              <a:t>Project</a:t>
            </a:r>
            <a:r>
              <a:rPr lang="en" sz="1200"/>
              <a:t> is being developed as a solo-effort with no mandatory requirements, milestones, or deliverables</a:t>
            </a:r>
            <a:endParaRPr sz="1200"/>
          </a:p>
          <a:p>
            <a:pPr indent="0" lvl="0" marL="457200" rtl="0" algn="l">
              <a:lnSpc>
                <a:spcPct val="50000"/>
              </a:lnSpc>
              <a:spcBef>
                <a:spcPts val="1200"/>
              </a:spcBef>
              <a:spcAft>
                <a:spcPts val="0"/>
              </a:spcAft>
              <a:buNone/>
            </a:pPr>
            <a:r>
              <a:t/>
            </a:r>
            <a:endParaRPr sz="1200"/>
          </a:p>
          <a:p>
            <a:pPr indent="-304800" lvl="0" marL="457200" rtl="0" algn="l">
              <a:spcBef>
                <a:spcPts val="50"/>
              </a:spcBef>
              <a:spcAft>
                <a:spcPts val="0"/>
              </a:spcAft>
              <a:buSzPts val="1200"/>
              <a:buChar char="-"/>
            </a:pPr>
            <a:r>
              <a:rPr b="1" lang="en" sz="1200"/>
              <a:t>Initial Status:</a:t>
            </a:r>
            <a:r>
              <a:rPr lang="en" sz="1200"/>
              <a:t> Initial documentation of requirements in the task plan represents a collection of initial ideas for the design and function of the system </a:t>
            </a:r>
            <a:endParaRPr sz="1200"/>
          </a:p>
          <a:p>
            <a:pPr indent="0" lvl="0" marL="457200" rtl="0" algn="l">
              <a:lnSpc>
                <a:spcPct val="50000"/>
              </a:lnSpc>
              <a:spcBef>
                <a:spcPts val="1200"/>
              </a:spcBef>
              <a:spcAft>
                <a:spcPts val="0"/>
              </a:spcAft>
              <a:buNone/>
            </a:pPr>
            <a:r>
              <a:t/>
            </a:r>
            <a:endParaRPr sz="1200"/>
          </a:p>
          <a:p>
            <a:pPr indent="-304800" lvl="0" marL="457200" rtl="0" algn="l">
              <a:spcBef>
                <a:spcPts val="50"/>
              </a:spcBef>
              <a:spcAft>
                <a:spcPts val="0"/>
              </a:spcAft>
              <a:buSzPts val="1200"/>
              <a:buChar char="-"/>
            </a:pPr>
            <a:r>
              <a:rPr b="1" lang="en" sz="1200"/>
              <a:t>Purpose:</a:t>
            </a:r>
            <a:r>
              <a:rPr lang="en" sz="1200"/>
              <a:t> </a:t>
            </a:r>
            <a:endParaRPr sz="1200"/>
          </a:p>
          <a:p>
            <a:pPr indent="0" lvl="0" marL="457200" rtl="0" algn="l">
              <a:lnSpc>
                <a:spcPct val="50000"/>
              </a:lnSpc>
              <a:spcBef>
                <a:spcPts val="1200"/>
              </a:spcBef>
              <a:spcAft>
                <a:spcPts val="0"/>
              </a:spcAft>
              <a:buNone/>
            </a:pPr>
            <a:r>
              <a:t/>
            </a:r>
            <a:endParaRPr sz="1200"/>
          </a:p>
          <a:p>
            <a:pPr indent="-304800" lvl="1" marL="914400" rtl="0" algn="l">
              <a:spcBef>
                <a:spcPts val="50"/>
              </a:spcBef>
              <a:spcAft>
                <a:spcPts val="0"/>
              </a:spcAft>
              <a:buSzPts val="1200"/>
              <a:buChar char="-"/>
            </a:pPr>
            <a:r>
              <a:rPr lang="en" sz="1200"/>
              <a:t>Constrain the scope of the project into a smaller list of requirements that are more achievable and timely</a:t>
            </a:r>
            <a:endParaRPr sz="1200"/>
          </a:p>
          <a:p>
            <a:pPr indent="0" lvl="0" marL="914400" rtl="0" algn="l">
              <a:lnSpc>
                <a:spcPct val="50000"/>
              </a:lnSpc>
              <a:spcBef>
                <a:spcPts val="1200"/>
              </a:spcBef>
              <a:spcAft>
                <a:spcPts val="0"/>
              </a:spcAft>
              <a:buNone/>
            </a:pPr>
            <a:r>
              <a:t/>
            </a:r>
            <a:endParaRPr sz="1200"/>
          </a:p>
          <a:p>
            <a:pPr indent="-304800" lvl="1" marL="914400" rtl="0" algn="l">
              <a:spcBef>
                <a:spcPts val="50"/>
              </a:spcBef>
              <a:spcAft>
                <a:spcPts val="0"/>
              </a:spcAft>
              <a:buSzPts val="1200"/>
              <a:buChar char="-"/>
            </a:pPr>
            <a:r>
              <a:rPr lang="en" sz="1200"/>
              <a:t>Categorize list of requirements to enable prioritization </a:t>
            </a:r>
            <a:endParaRPr sz="1200"/>
          </a:p>
          <a:p>
            <a:pPr indent="0" lvl="0" marL="914400" rtl="0" algn="l">
              <a:lnSpc>
                <a:spcPct val="50000"/>
              </a:lnSpc>
              <a:spcBef>
                <a:spcPts val="1200"/>
              </a:spcBef>
              <a:spcAft>
                <a:spcPts val="0"/>
              </a:spcAft>
              <a:buNone/>
            </a:pPr>
            <a:r>
              <a:t/>
            </a:r>
            <a:endParaRPr sz="1200"/>
          </a:p>
          <a:p>
            <a:pPr indent="-304800" lvl="1" marL="914400" rtl="0" algn="l">
              <a:spcBef>
                <a:spcPts val="50"/>
              </a:spcBef>
              <a:spcAft>
                <a:spcPts val="0"/>
              </a:spcAft>
              <a:buSzPts val="1200"/>
              <a:buChar char="-"/>
            </a:pPr>
            <a:r>
              <a:rPr lang="en" sz="1200"/>
              <a:t>Investigate trade-offs to be informed of future design decisions and their impacts</a:t>
            </a:r>
            <a:endParaRPr sz="1200"/>
          </a:p>
        </p:txBody>
      </p:sp>
      <p:pic>
        <p:nvPicPr>
          <p:cNvPr descr="Contract Icon, Agreement, Deal (Provided by Getty Images)" id="115" name="Google Shape;115;p16"/>
          <p:cNvPicPr preferRelativeResize="0"/>
          <p:nvPr/>
        </p:nvPicPr>
        <p:blipFill>
          <a:blip r:embed="rId3">
            <a:alphaModFix/>
          </a:blip>
          <a:stretch>
            <a:fillRect/>
          </a:stretch>
        </p:blipFill>
        <p:spPr>
          <a:xfrm>
            <a:off x="5502700" y="1243425"/>
            <a:ext cx="2867727" cy="28677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00"/>
              <a:t>How was this accomplished?</a:t>
            </a:r>
            <a:endParaRPr sz="2400"/>
          </a:p>
        </p:txBody>
      </p:sp>
      <p:sp>
        <p:nvSpPr>
          <p:cNvPr id="121" name="Google Shape;121;p17"/>
          <p:cNvSpPr txBox="1"/>
          <p:nvPr>
            <p:ph idx="1" type="body"/>
          </p:nvPr>
        </p:nvSpPr>
        <p:spPr>
          <a:xfrm>
            <a:off x="0" y="835425"/>
            <a:ext cx="4572000" cy="4059900"/>
          </a:xfrm>
          <a:prstGeom prst="rect">
            <a:avLst/>
          </a:prstGeom>
        </p:spPr>
        <p:txBody>
          <a:bodyPr anchorCtr="0" anchor="t" bIns="91425" lIns="91425" spcFirstLastPara="1" rIns="91425" wrap="square" tIns="91425">
            <a:noAutofit/>
          </a:bodyPr>
          <a:lstStyle/>
          <a:p>
            <a:pPr indent="-306245" lvl="0" marL="457200" rtl="0" algn="l">
              <a:lnSpc>
                <a:spcPct val="75000"/>
              </a:lnSpc>
              <a:spcBef>
                <a:spcPts val="0"/>
              </a:spcBef>
              <a:spcAft>
                <a:spcPts val="0"/>
              </a:spcAft>
              <a:buSzPts val="1223"/>
              <a:buAutoNum type="arabicParenR"/>
            </a:pPr>
            <a:r>
              <a:rPr lang="en" sz="1223"/>
              <a:t>Initial review performed to separate finalized requirements from requirements for further analysis</a:t>
            </a:r>
            <a:endParaRPr sz="1223"/>
          </a:p>
          <a:p>
            <a:pPr indent="0" lvl="0" marL="914400" rtl="0" algn="l">
              <a:lnSpc>
                <a:spcPct val="200000"/>
              </a:lnSpc>
              <a:spcBef>
                <a:spcPts val="1200"/>
              </a:spcBef>
              <a:spcAft>
                <a:spcPts val="0"/>
              </a:spcAft>
              <a:buSzPts val="1018"/>
              <a:buNone/>
            </a:pPr>
            <a:r>
              <a:t/>
            </a:r>
            <a:endParaRPr sz="1223"/>
          </a:p>
          <a:p>
            <a:pPr indent="-306245" lvl="0" marL="457200" rtl="0" algn="l">
              <a:lnSpc>
                <a:spcPct val="75000"/>
              </a:lnSpc>
              <a:spcBef>
                <a:spcPts val="100"/>
              </a:spcBef>
              <a:spcAft>
                <a:spcPts val="0"/>
              </a:spcAft>
              <a:buSzPts val="1223"/>
              <a:buAutoNum type="arabicParenR"/>
            </a:pPr>
            <a:r>
              <a:rPr lang="en" sz="1223"/>
              <a:t>Trade-offs</a:t>
            </a:r>
            <a:r>
              <a:rPr lang="en" sz="1223"/>
              <a:t> established for individual requirements</a:t>
            </a:r>
            <a:endParaRPr sz="1223"/>
          </a:p>
          <a:p>
            <a:pPr indent="0" lvl="0" marL="914400" rtl="0" algn="l">
              <a:lnSpc>
                <a:spcPct val="200000"/>
              </a:lnSpc>
              <a:spcBef>
                <a:spcPts val="1200"/>
              </a:spcBef>
              <a:spcAft>
                <a:spcPts val="0"/>
              </a:spcAft>
              <a:buSzPts val="1018"/>
              <a:buNone/>
            </a:pPr>
            <a:r>
              <a:t/>
            </a:r>
            <a:endParaRPr sz="1223"/>
          </a:p>
          <a:p>
            <a:pPr indent="-306245" lvl="0" marL="457200" rtl="0" algn="l">
              <a:lnSpc>
                <a:spcPct val="75000"/>
              </a:lnSpc>
              <a:spcBef>
                <a:spcPts val="1200"/>
              </a:spcBef>
              <a:spcAft>
                <a:spcPts val="0"/>
              </a:spcAft>
              <a:buSzPts val="1223"/>
              <a:buAutoNum type="arabicParenR"/>
            </a:pPr>
            <a:r>
              <a:rPr lang="en" sz="1223"/>
              <a:t>Trade Spaces developed for each requirement type (functional vs technical, needs vs want</a:t>
            </a:r>
            <a:r>
              <a:rPr lang="en" sz="1223"/>
              <a:t>s)</a:t>
            </a:r>
            <a:endParaRPr sz="1223"/>
          </a:p>
          <a:p>
            <a:pPr indent="0" lvl="0" marL="914400" rtl="0" algn="l">
              <a:lnSpc>
                <a:spcPct val="200000"/>
              </a:lnSpc>
              <a:spcBef>
                <a:spcPts val="1200"/>
              </a:spcBef>
              <a:spcAft>
                <a:spcPts val="0"/>
              </a:spcAft>
              <a:buSzPts val="1018"/>
              <a:buNone/>
            </a:pPr>
            <a:r>
              <a:t/>
            </a:r>
            <a:endParaRPr sz="1223"/>
          </a:p>
          <a:p>
            <a:pPr indent="-306245" lvl="0" marL="457200" rtl="0" algn="l">
              <a:lnSpc>
                <a:spcPct val="75000"/>
              </a:lnSpc>
              <a:spcBef>
                <a:spcPts val="1200"/>
              </a:spcBef>
              <a:spcAft>
                <a:spcPts val="0"/>
              </a:spcAft>
              <a:buSzPts val="1223"/>
              <a:buAutoNum type="arabicParenR"/>
            </a:pPr>
            <a:r>
              <a:rPr lang="en" sz="1223"/>
              <a:t>Requirements down-selected using trade space analyses</a:t>
            </a:r>
            <a:endParaRPr sz="1223"/>
          </a:p>
          <a:p>
            <a:pPr indent="0" lvl="0" marL="914400" rtl="0" algn="l">
              <a:lnSpc>
                <a:spcPct val="200000"/>
              </a:lnSpc>
              <a:spcBef>
                <a:spcPts val="1200"/>
              </a:spcBef>
              <a:spcAft>
                <a:spcPts val="0"/>
              </a:spcAft>
              <a:buSzPts val="1018"/>
              <a:buNone/>
            </a:pPr>
            <a:r>
              <a:t/>
            </a:r>
            <a:endParaRPr sz="1223"/>
          </a:p>
          <a:p>
            <a:pPr indent="-306245" lvl="0" marL="457200" marR="0" rtl="0" algn="l">
              <a:lnSpc>
                <a:spcPct val="75000"/>
              </a:lnSpc>
              <a:spcBef>
                <a:spcPts val="1200"/>
              </a:spcBef>
              <a:spcAft>
                <a:spcPts val="0"/>
              </a:spcAft>
              <a:buSzPts val="1223"/>
              <a:buAutoNum type="arabicParenR"/>
            </a:pPr>
            <a:r>
              <a:rPr lang="en" sz="1223"/>
              <a:t>Requirements Decision Matrices developed to visualize association between customer satisfaction and technical difficulty</a:t>
            </a:r>
            <a:endParaRPr sz="1223"/>
          </a:p>
        </p:txBody>
      </p:sp>
      <p:pic>
        <p:nvPicPr>
          <p:cNvPr descr="Business People Analyzing Statistics Business Documents, Financial Concept (Provided by Getty Images)" id="122" name="Google Shape;122;p17"/>
          <p:cNvPicPr preferRelativeResize="0"/>
          <p:nvPr/>
        </p:nvPicPr>
        <p:blipFill>
          <a:blip r:embed="rId3">
            <a:alphaModFix/>
          </a:blip>
          <a:stretch>
            <a:fillRect/>
          </a:stretch>
        </p:blipFill>
        <p:spPr>
          <a:xfrm>
            <a:off x="4876800" y="869475"/>
            <a:ext cx="4267203" cy="284410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00"/>
              <a:t>Requirements </a:t>
            </a:r>
            <a:r>
              <a:rPr lang="en" sz="2400"/>
              <a:t>Analysis</a:t>
            </a:r>
            <a:r>
              <a:rPr lang="en" sz="2400"/>
              <a:t> Process</a:t>
            </a:r>
            <a:endParaRPr sz="2400"/>
          </a:p>
        </p:txBody>
      </p:sp>
      <p:pic>
        <p:nvPicPr>
          <p:cNvPr id="128" name="Google Shape;128;p18" title="Untitled Diagram.drawio.png"/>
          <p:cNvPicPr preferRelativeResize="0"/>
          <p:nvPr/>
        </p:nvPicPr>
        <p:blipFill>
          <a:blip r:embed="rId3">
            <a:alphaModFix/>
          </a:blip>
          <a:stretch>
            <a:fillRect/>
          </a:stretch>
        </p:blipFill>
        <p:spPr>
          <a:xfrm>
            <a:off x="2619050" y="572700"/>
            <a:ext cx="3766300" cy="411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00"/>
              <a:t>Analysis for Example Requirement: Step #1:</a:t>
            </a:r>
            <a:r>
              <a:rPr lang="en" sz="2400"/>
              <a:t>Trade-offs</a:t>
            </a:r>
            <a:r>
              <a:rPr lang="en" sz="2400"/>
              <a:t> for Individual Requirements</a:t>
            </a:r>
            <a:endParaRPr sz="2400"/>
          </a:p>
        </p:txBody>
      </p:sp>
      <p:pic>
        <p:nvPicPr>
          <p:cNvPr id="134" name="Google Shape;134;p19" title="Snip20260505_29.png"/>
          <p:cNvPicPr preferRelativeResize="0"/>
          <p:nvPr/>
        </p:nvPicPr>
        <p:blipFill rotWithShape="1">
          <a:blip r:embed="rId3">
            <a:alphaModFix/>
          </a:blip>
          <a:srcRect b="0" l="0" r="1730" t="0"/>
          <a:stretch/>
        </p:blipFill>
        <p:spPr>
          <a:xfrm>
            <a:off x="0" y="1018800"/>
            <a:ext cx="4921175" cy="4043475"/>
          </a:xfrm>
          <a:prstGeom prst="rect">
            <a:avLst/>
          </a:prstGeom>
          <a:noFill/>
          <a:ln>
            <a:noFill/>
          </a:ln>
        </p:spPr>
      </p:pic>
      <p:pic>
        <p:nvPicPr>
          <p:cNvPr id="135" name="Google Shape;135;p19" title="Snip20260505_30.png"/>
          <p:cNvPicPr preferRelativeResize="0"/>
          <p:nvPr/>
        </p:nvPicPr>
        <p:blipFill rotWithShape="1">
          <a:blip r:embed="rId4">
            <a:alphaModFix/>
          </a:blip>
          <a:srcRect b="0" l="0" r="0" t="2267"/>
          <a:stretch/>
        </p:blipFill>
        <p:spPr>
          <a:xfrm>
            <a:off x="4921175" y="1132400"/>
            <a:ext cx="2986000" cy="2373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type="title"/>
          </p:nvPr>
        </p:nvSpPr>
        <p:spPr>
          <a:xfrm>
            <a:off x="0" y="0"/>
            <a:ext cx="8832300" cy="872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41250"/>
              <a:buFont typeface="Arial"/>
              <a:buNone/>
            </a:pPr>
            <a:r>
              <a:rPr lang="en" sz="2667"/>
              <a:t>Step #2: Trade Spaces Established for each Requirement Type</a:t>
            </a:r>
            <a:endParaRPr sz="2667"/>
          </a:p>
          <a:p>
            <a:pPr indent="0" lvl="0" marL="0" rtl="0" algn="ctr">
              <a:spcBef>
                <a:spcPts val="0"/>
              </a:spcBef>
              <a:spcAft>
                <a:spcPts val="0"/>
              </a:spcAft>
              <a:buNone/>
            </a:pPr>
            <a:r>
              <a:t/>
            </a:r>
            <a:endParaRPr/>
          </a:p>
        </p:txBody>
      </p:sp>
      <p:pic>
        <p:nvPicPr>
          <p:cNvPr id="141" name="Google Shape;141;p20" title="Snip20260501_190.png"/>
          <p:cNvPicPr preferRelativeResize="0"/>
          <p:nvPr/>
        </p:nvPicPr>
        <p:blipFill>
          <a:blip r:embed="rId3">
            <a:alphaModFix/>
          </a:blip>
          <a:stretch>
            <a:fillRect/>
          </a:stretch>
        </p:blipFill>
        <p:spPr>
          <a:xfrm>
            <a:off x="84176" y="924926"/>
            <a:ext cx="5175063" cy="3991025"/>
          </a:xfrm>
          <a:prstGeom prst="rect">
            <a:avLst/>
          </a:prstGeom>
          <a:noFill/>
          <a:ln>
            <a:noFill/>
          </a:ln>
        </p:spPr>
      </p:pic>
      <p:pic>
        <p:nvPicPr>
          <p:cNvPr id="142" name="Google Shape;142;p20" title="Snip20260501_191.png"/>
          <p:cNvPicPr preferRelativeResize="0"/>
          <p:nvPr/>
        </p:nvPicPr>
        <p:blipFill>
          <a:blip r:embed="rId4">
            <a:alphaModFix/>
          </a:blip>
          <a:stretch>
            <a:fillRect/>
          </a:stretch>
        </p:blipFill>
        <p:spPr>
          <a:xfrm>
            <a:off x="5587439" y="1489575"/>
            <a:ext cx="3352436" cy="21643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1"/>
          <p:cNvSpPr txBox="1"/>
          <p:nvPr>
            <p:ph type="title"/>
          </p:nvPr>
        </p:nvSpPr>
        <p:spPr>
          <a:xfrm>
            <a:off x="0" y="0"/>
            <a:ext cx="8832300" cy="87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00"/>
              <a:t>Step #3: Requirements Down-Selected using Trade Space Analysis</a:t>
            </a:r>
            <a:endParaRPr sz="2400"/>
          </a:p>
          <a:p>
            <a:pPr indent="0" lvl="0" marL="0" rtl="0" algn="ctr">
              <a:spcBef>
                <a:spcPts val="0"/>
              </a:spcBef>
              <a:spcAft>
                <a:spcPts val="0"/>
              </a:spcAft>
              <a:buSzPts val="990"/>
              <a:buNone/>
            </a:pPr>
            <a:r>
              <a:t/>
            </a:r>
            <a:endParaRPr sz="2700"/>
          </a:p>
        </p:txBody>
      </p:sp>
      <p:pic>
        <p:nvPicPr>
          <p:cNvPr id="148" name="Google Shape;148;p21" title="Snip20260505_32.png"/>
          <p:cNvPicPr preferRelativeResize="0"/>
          <p:nvPr/>
        </p:nvPicPr>
        <p:blipFill>
          <a:blip r:embed="rId3">
            <a:alphaModFix/>
          </a:blip>
          <a:stretch>
            <a:fillRect/>
          </a:stretch>
        </p:blipFill>
        <p:spPr>
          <a:xfrm>
            <a:off x="0" y="3482176"/>
            <a:ext cx="4790650" cy="616725"/>
          </a:xfrm>
          <a:prstGeom prst="rect">
            <a:avLst/>
          </a:prstGeom>
          <a:noFill/>
          <a:ln>
            <a:noFill/>
          </a:ln>
        </p:spPr>
      </p:pic>
      <p:pic>
        <p:nvPicPr>
          <p:cNvPr id="149" name="Google Shape;149;p21" title="Snip20260505_31.png"/>
          <p:cNvPicPr preferRelativeResize="0"/>
          <p:nvPr/>
        </p:nvPicPr>
        <p:blipFill>
          <a:blip r:embed="rId4">
            <a:alphaModFix/>
          </a:blip>
          <a:stretch>
            <a:fillRect/>
          </a:stretch>
        </p:blipFill>
        <p:spPr>
          <a:xfrm>
            <a:off x="0" y="1285050"/>
            <a:ext cx="5278300" cy="1580200"/>
          </a:xfrm>
          <a:prstGeom prst="rect">
            <a:avLst/>
          </a:prstGeom>
          <a:noFill/>
          <a:ln>
            <a:noFill/>
          </a:ln>
        </p:spPr>
      </p:pic>
      <p:pic>
        <p:nvPicPr>
          <p:cNvPr descr="Business people balance coins and time. Golden coins and watches on scales. Evaluating time investment versus earnings (Provided by Getty Images)" id="150" name="Google Shape;150;p21"/>
          <p:cNvPicPr preferRelativeResize="0"/>
          <p:nvPr/>
        </p:nvPicPr>
        <p:blipFill>
          <a:blip r:embed="rId5">
            <a:alphaModFix/>
          </a:blip>
          <a:stretch>
            <a:fillRect/>
          </a:stretch>
        </p:blipFill>
        <p:spPr>
          <a:xfrm>
            <a:off x="5278300" y="1283501"/>
            <a:ext cx="3865702" cy="2576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33885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00"/>
              <a:t>Technical Requirements Decision Matrix</a:t>
            </a:r>
            <a:endParaRPr sz="2400"/>
          </a:p>
        </p:txBody>
      </p:sp>
      <p:pic>
        <p:nvPicPr>
          <p:cNvPr id="156" name="Google Shape;156;p22" title="Snip20260501_188.png"/>
          <p:cNvPicPr preferRelativeResize="0"/>
          <p:nvPr/>
        </p:nvPicPr>
        <p:blipFill>
          <a:blip r:embed="rId3">
            <a:alphaModFix/>
          </a:blip>
          <a:stretch>
            <a:fillRect/>
          </a:stretch>
        </p:blipFill>
        <p:spPr>
          <a:xfrm>
            <a:off x="2099850" y="783925"/>
            <a:ext cx="4737474" cy="3426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345625"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00"/>
              <a:t>Functional Requirements Decision Matrix</a:t>
            </a:r>
            <a:endParaRPr sz="2400"/>
          </a:p>
        </p:txBody>
      </p:sp>
      <p:pic>
        <p:nvPicPr>
          <p:cNvPr id="162" name="Google Shape;162;p23" title="Snip20260501_189.png"/>
          <p:cNvPicPr preferRelativeResize="0"/>
          <p:nvPr/>
        </p:nvPicPr>
        <p:blipFill>
          <a:blip r:embed="rId3">
            <a:alphaModFix/>
          </a:blip>
          <a:stretch>
            <a:fillRect/>
          </a:stretch>
        </p:blipFill>
        <p:spPr>
          <a:xfrm>
            <a:off x="2100275" y="753825"/>
            <a:ext cx="4736592" cy="3429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311700" y="492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00"/>
              <a:t>Next Steps</a:t>
            </a:r>
            <a:endParaRPr sz="2400"/>
          </a:p>
        </p:txBody>
      </p:sp>
      <p:sp>
        <p:nvSpPr>
          <p:cNvPr id="168" name="Google Shape;168;p24"/>
          <p:cNvSpPr txBox="1"/>
          <p:nvPr>
            <p:ph idx="1" type="body"/>
          </p:nvPr>
        </p:nvSpPr>
        <p:spPr>
          <a:xfrm>
            <a:off x="0" y="787050"/>
            <a:ext cx="5645100" cy="4011600"/>
          </a:xfrm>
          <a:prstGeom prst="rect">
            <a:avLst/>
          </a:prstGeom>
        </p:spPr>
        <p:txBody>
          <a:bodyPr anchorCtr="0" anchor="t" bIns="91425" lIns="91425" spcFirstLastPara="1" rIns="91425" wrap="square" tIns="91425">
            <a:normAutofit lnSpcReduction="20000"/>
          </a:bodyPr>
          <a:lstStyle/>
          <a:p>
            <a:pPr indent="-333375" lvl="0" marL="457200" rtl="0" algn="l">
              <a:spcBef>
                <a:spcPts val="0"/>
              </a:spcBef>
              <a:spcAft>
                <a:spcPts val="0"/>
              </a:spcAft>
              <a:buSzPts val="1650"/>
              <a:buChar char="-"/>
            </a:pPr>
            <a:r>
              <a:rPr b="1" lang="en" sz="1650"/>
              <a:t>Preliminary </a:t>
            </a:r>
            <a:r>
              <a:rPr b="1" lang="en" sz="1650"/>
              <a:t>System Design (Platform-Agnostic)</a:t>
            </a:r>
            <a:endParaRPr b="1" sz="1650"/>
          </a:p>
          <a:p>
            <a:pPr indent="-333375" lvl="1" marL="914400" rtl="0" algn="l">
              <a:spcBef>
                <a:spcPts val="0"/>
              </a:spcBef>
              <a:spcAft>
                <a:spcPts val="0"/>
              </a:spcAft>
              <a:buSzPts val="1650"/>
              <a:buChar char="-"/>
            </a:pPr>
            <a:r>
              <a:rPr lang="en" sz="1650"/>
              <a:t>B</a:t>
            </a:r>
            <a:r>
              <a:rPr lang="en" sz="1650"/>
              <a:t>lack Box Diagrams</a:t>
            </a:r>
            <a:endParaRPr sz="1650"/>
          </a:p>
          <a:p>
            <a:pPr indent="-333375" lvl="1" marL="914400" rtl="0" algn="l">
              <a:spcBef>
                <a:spcPts val="0"/>
              </a:spcBef>
              <a:spcAft>
                <a:spcPts val="0"/>
              </a:spcAft>
              <a:buSzPts val="1650"/>
              <a:buChar char="-"/>
            </a:pPr>
            <a:r>
              <a:rPr lang="en" sz="1650"/>
              <a:t>Use Case Workflows</a:t>
            </a:r>
            <a:endParaRPr sz="1650"/>
          </a:p>
          <a:p>
            <a:pPr indent="-333375" lvl="1" marL="914400" rtl="0" algn="l">
              <a:spcBef>
                <a:spcPts val="0"/>
              </a:spcBef>
              <a:spcAft>
                <a:spcPts val="0"/>
              </a:spcAft>
              <a:buSzPts val="1650"/>
              <a:buChar char="-"/>
            </a:pPr>
            <a:r>
              <a:rPr lang="en" sz="1650"/>
              <a:t>System Architectural Diagrams</a:t>
            </a:r>
            <a:endParaRPr sz="1650"/>
          </a:p>
          <a:p>
            <a:pPr indent="-333375" lvl="1" marL="914400" rtl="0" algn="l">
              <a:spcBef>
                <a:spcPts val="0"/>
              </a:spcBef>
              <a:spcAft>
                <a:spcPts val="0"/>
              </a:spcAft>
              <a:buSzPts val="1650"/>
              <a:buChar char="-"/>
            </a:pPr>
            <a:r>
              <a:rPr lang="en" sz="1650"/>
              <a:t>UI Designs</a:t>
            </a:r>
            <a:endParaRPr sz="1650"/>
          </a:p>
          <a:p>
            <a:pPr indent="0" lvl="0" marL="914400" rtl="0" algn="l">
              <a:spcBef>
                <a:spcPts val="1200"/>
              </a:spcBef>
              <a:spcAft>
                <a:spcPts val="0"/>
              </a:spcAft>
              <a:buNone/>
            </a:pPr>
            <a:r>
              <a:t/>
            </a:r>
            <a:endParaRPr sz="1650"/>
          </a:p>
          <a:p>
            <a:pPr indent="-333375" lvl="0" marL="457200" rtl="0" algn="l">
              <a:spcBef>
                <a:spcPts val="1200"/>
              </a:spcBef>
              <a:spcAft>
                <a:spcPts val="0"/>
              </a:spcAft>
              <a:buSzPts val="1650"/>
              <a:buChar char="-"/>
            </a:pPr>
            <a:r>
              <a:rPr b="1" lang="en" sz="1650"/>
              <a:t>Feasibility Analysis Studies</a:t>
            </a:r>
            <a:endParaRPr b="1" sz="1650"/>
          </a:p>
          <a:p>
            <a:pPr indent="-333375" lvl="1" marL="914400" rtl="0" algn="l">
              <a:spcBef>
                <a:spcPts val="0"/>
              </a:spcBef>
              <a:spcAft>
                <a:spcPts val="0"/>
              </a:spcAft>
              <a:buSzPts val="1650"/>
              <a:buChar char="-"/>
            </a:pPr>
            <a:r>
              <a:rPr lang="en" sz="1650"/>
              <a:t>Define categories and sub-categories</a:t>
            </a:r>
            <a:endParaRPr sz="1650"/>
          </a:p>
          <a:p>
            <a:pPr indent="-333375" lvl="1" marL="914400" rtl="0" algn="l">
              <a:spcBef>
                <a:spcPts val="0"/>
              </a:spcBef>
              <a:spcAft>
                <a:spcPts val="0"/>
              </a:spcAft>
              <a:buSzPts val="1650"/>
              <a:buChar char="-"/>
            </a:pPr>
            <a:r>
              <a:rPr lang="en" sz="1650"/>
              <a:t>Perform Literature Review to assemble competing alternatives</a:t>
            </a:r>
            <a:endParaRPr sz="1650"/>
          </a:p>
          <a:p>
            <a:pPr indent="-333375" lvl="1" marL="914400" rtl="0" algn="l">
              <a:spcBef>
                <a:spcPts val="0"/>
              </a:spcBef>
              <a:spcAft>
                <a:spcPts val="0"/>
              </a:spcAft>
              <a:buSzPts val="1650"/>
              <a:buChar char="-"/>
            </a:pPr>
            <a:r>
              <a:rPr lang="en" sz="1650"/>
              <a:t>Define Feasibility Analysis methodology</a:t>
            </a:r>
            <a:endParaRPr sz="1650"/>
          </a:p>
          <a:p>
            <a:pPr indent="-333375" lvl="1" marL="914400" rtl="0" algn="l">
              <a:spcBef>
                <a:spcPts val="0"/>
              </a:spcBef>
              <a:spcAft>
                <a:spcPts val="0"/>
              </a:spcAft>
              <a:buSzPts val="1650"/>
              <a:buChar char="-"/>
            </a:pPr>
            <a:r>
              <a:rPr lang="en" sz="1650"/>
              <a:t>Define and weigh Feasibility Analysis criteria</a:t>
            </a:r>
            <a:endParaRPr sz="1650"/>
          </a:p>
          <a:p>
            <a:pPr indent="-333375" lvl="1" marL="914400" rtl="0" algn="l">
              <a:spcBef>
                <a:spcPts val="0"/>
              </a:spcBef>
              <a:spcAft>
                <a:spcPts val="0"/>
              </a:spcAft>
              <a:buSzPts val="1650"/>
              <a:buChar char="-"/>
            </a:pPr>
            <a:r>
              <a:rPr lang="en" sz="1650"/>
              <a:t>Perform analysis to down-select alternatives</a:t>
            </a:r>
            <a:endParaRPr sz="1650"/>
          </a:p>
          <a:p>
            <a:pPr indent="0" lvl="0" marL="914400" rtl="0" algn="l">
              <a:spcBef>
                <a:spcPts val="1200"/>
              </a:spcBef>
              <a:spcAft>
                <a:spcPts val="1200"/>
              </a:spcAft>
              <a:buNone/>
            </a:pPr>
            <a:r>
              <a:t/>
            </a:r>
            <a:endParaRPr/>
          </a:p>
        </p:txBody>
      </p:sp>
      <p:pic>
        <p:nvPicPr>
          <p:cNvPr descr="Outreach Seo concept, Website Map Sign, Link building Vector Icon Design, SEO and Internet Marketing Symbol, Search Engine Optimization or off-site Links Stock illustration, (Provided by Getty Images)" id="169" name="Google Shape;169;p24"/>
          <p:cNvPicPr preferRelativeResize="0"/>
          <p:nvPr/>
        </p:nvPicPr>
        <p:blipFill>
          <a:blip r:embed="rId3">
            <a:alphaModFix/>
          </a:blip>
          <a:stretch>
            <a:fillRect/>
          </a:stretch>
        </p:blipFill>
        <p:spPr>
          <a:xfrm>
            <a:off x="6031400" y="1111125"/>
            <a:ext cx="2971223" cy="23139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